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aa78768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aa78768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Collaborated with the MWFB here at UC Davis to set up 12 semi-clustered sites, three of each of four land uses, for a total of ~200 boxes, 50 of which we set up last spring, primarily in row crops. We monitor nests weekly, place temperature loggers in a subset of active nests (limited by logger availability and balanced across sites and land uses), and measured nestlings weekly. Each individual’s growth was tracked using nail polish. In addition, we placed motion-activated cameras on a subset of temperature-monitored nests to measure provisioning rate (N = 19 nests monitored at end of season).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7.jpg"/><Relationship Id="rId5" Type="http://schemas.openxmlformats.org/officeDocument/2006/relationships/image" Target="../media/image3.jpg"/><Relationship Id="rId6" Type="http://schemas.openxmlformats.org/officeDocument/2006/relationships/image" Target="../media/image6.jpg"/><Relationship Id="rId7" Type="http://schemas.openxmlformats.org/officeDocument/2006/relationships/image" Target="../media/image2.png"/><Relationship Id="rId8"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b="4675" l="53724" r="9972" t="10936"/>
          <a:stretch/>
        </p:blipFill>
        <p:spPr>
          <a:xfrm>
            <a:off x="2839100" y="125700"/>
            <a:ext cx="1454423" cy="2342200"/>
          </a:xfrm>
          <a:prstGeom prst="rect">
            <a:avLst/>
          </a:prstGeom>
          <a:noFill/>
          <a:ln>
            <a:noFill/>
          </a:ln>
        </p:spPr>
      </p:pic>
      <p:pic>
        <p:nvPicPr>
          <p:cNvPr id="61" name="Google Shape;61;p14"/>
          <p:cNvPicPr preferRelativeResize="0"/>
          <p:nvPr/>
        </p:nvPicPr>
        <p:blipFill rotWithShape="1">
          <a:blip r:embed="rId4">
            <a:alphaModFix/>
          </a:blip>
          <a:srcRect b="36169" l="52441" r="22239" t="8903"/>
          <a:stretch/>
        </p:blipFill>
        <p:spPr>
          <a:xfrm>
            <a:off x="1454303" y="125700"/>
            <a:ext cx="1384801" cy="2342200"/>
          </a:xfrm>
          <a:prstGeom prst="rect">
            <a:avLst/>
          </a:prstGeom>
          <a:noFill/>
          <a:ln>
            <a:noFill/>
          </a:ln>
        </p:spPr>
      </p:pic>
      <p:pic>
        <p:nvPicPr>
          <p:cNvPr id="62" name="Google Shape;62;p14"/>
          <p:cNvPicPr preferRelativeResize="0"/>
          <p:nvPr/>
        </p:nvPicPr>
        <p:blipFill>
          <a:blip r:embed="rId5">
            <a:alphaModFix/>
          </a:blip>
          <a:stretch>
            <a:fillRect/>
          </a:stretch>
        </p:blipFill>
        <p:spPr>
          <a:xfrm>
            <a:off x="4605000" y="-149025"/>
            <a:ext cx="3667876" cy="4385172"/>
          </a:xfrm>
          <a:prstGeom prst="rect">
            <a:avLst/>
          </a:prstGeom>
          <a:noFill/>
          <a:ln>
            <a:noFill/>
          </a:ln>
        </p:spPr>
      </p:pic>
      <p:pic>
        <p:nvPicPr>
          <p:cNvPr id="63" name="Google Shape;63;p14"/>
          <p:cNvPicPr preferRelativeResize="0"/>
          <p:nvPr/>
        </p:nvPicPr>
        <p:blipFill rotWithShape="1">
          <a:blip r:embed="rId6">
            <a:alphaModFix/>
          </a:blip>
          <a:srcRect b="-160" l="37882" r="25324" t="160"/>
          <a:stretch/>
        </p:blipFill>
        <p:spPr>
          <a:xfrm>
            <a:off x="7336375" y="105325"/>
            <a:ext cx="1499300" cy="2382949"/>
          </a:xfrm>
          <a:prstGeom prst="rect">
            <a:avLst/>
          </a:prstGeom>
          <a:noFill/>
          <a:ln>
            <a:noFill/>
          </a:ln>
        </p:spPr>
      </p:pic>
      <p:pic>
        <p:nvPicPr>
          <p:cNvPr id="64" name="Google Shape;64;p14"/>
          <p:cNvPicPr preferRelativeResize="0"/>
          <p:nvPr/>
        </p:nvPicPr>
        <p:blipFill rotWithShape="1">
          <a:blip r:embed="rId7">
            <a:alphaModFix/>
          </a:blip>
          <a:srcRect b="90969" l="0" r="48914" t="0"/>
          <a:stretch/>
        </p:blipFill>
        <p:spPr>
          <a:xfrm>
            <a:off x="5353550" y="4114800"/>
            <a:ext cx="3757926" cy="464476"/>
          </a:xfrm>
          <a:prstGeom prst="rect">
            <a:avLst/>
          </a:prstGeom>
          <a:noFill/>
          <a:ln>
            <a:noFill/>
          </a:ln>
        </p:spPr>
      </p:pic>
      <p:pic>
        <p:nvPicPr>
          <p:cNvPr id="65" name="Google Shape;65;p14"/>
          <p:cNvPicPr preferRelativeResize="0"/>
          <p:nvPr/>
        </p:nvPicPr>
        <p:blipFill rotWithShape="1">
          <a:blip r:embed="rId7">
            <a:alphaModFix/>
          </a:blip>
          <a:srcRect b="39992" l="0" r="0" t="33647"/>
          <a:stretch/>
        </p:blipFill>
        <p:spPr>
          <a:xfrm>
            <a:off x="0" y="2467900"/>
            <a:ext cx="9144003" cy="1685124"/>
          </a:xfrm>
          <a:prstGeom prst="rect">
            <a:avLst/>
          </a:prstGeom>
          <a:noFill/>
          <a:ln>
            <a:noFill/>
          </a:ln>
        </p:spPr>
      </p:pic>
      <p:sp>
        <p:nvSpPr>
          <p:cNvPr id="66" name="Google Shape;66;p14"/>
          <p:cNvSpPr txBox="1"/>
          <p:nvPr/>
        </p:nvSpPr>
        <p:spPr>
          <a:xfrm>
            <a:off x="6488875" y="2656625"/>
            <a:ext cx="12858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highlight>
                  <a:srgbClr val="D9EAD3"/>
                </a:highlight>
              </a:rPr>
              <a:t>Davis, CA</a:t>
            </a:r>
            <a:endParaRPr b="1" sz="1600">
              <a:solidFill>
                <a:srgbClr val="000000"/>
              </a:solidFill>
              <a:highlight>
                <a:srgbClr val="D9EAD3"/>
              </a:highlight>
            </a:endParaRPr>
          </a:p>
        </p:txBody>
      </p:sp>
      <p:pic>
        <p:nvPicPr>
          <p:cNvPr id="67" name="Google Shape;67;p14"/>
          <p:cNvPicPr preferRelativeResize="0"/>
          <p:nvPr/>
        </p:nvPicPr>
        <p:blipFill rotWithShape="1">
          <a:blip r:embed="rId7">
            <a:alphaModFix/>
          </a:blip>
          <a:srcRect b="10544" l="1137" r="87466" t="84930"/>
          <a:stretch/>
        </p:blipFill>
        <p:spPr>
          <a:xfrm>
            <a:off x="7474675" y="2128500"/>
            <a:ext cx="1222702" cy="339398"/>
          </a:xfrm>
          <a:prstGeom prst="rect">
            <a:avLst/>
          </a:prstGeom>
          <a:noFill/>
          <a:ln>
            <a:noFill/>
          </a:ln>
        </p:spPr>
      </p:pic>
      <p:cxnSp>
        <p:nvCxnSpPr>
          <p:cNvPr id="68" name="Google Shape;68;p14"/>
          <p:cNvCxnSpPr>
            <a:stCxn id="69" idx="2"/>
            <a:endCxn id="65" idx="1"/>
          </p:cNvCxnSpPr>
          <p:nvPr/>
        </p:nvCxnSpPr>
        <p:spPr>
          <a:xfrm flipH="1">
            <a:off x="-125" y="1654000"/>
            <a:ext cx="5502300" cy="1656600"/>
          </a:xfrm>
          <a:prstGeom prst="straightConnector1">
            <a:avLst/>
          </a:prstGeom>
          <a:noFill/>
          <a:ln cap="flat" cmpd="sng" w="38100">
            <a:solidFill>
              <a:srgbClr val="5CB676"/>
            </a:solidFill>
            <a:prstDash val="solid"/>
            <a:round/>
            <a:headEnd len="med" w="med" type="none"/>
            <a:tailEnd len="med" w="med" type="none"/>
          </a:ln>
        </p:spPr>
      </p:cxnSp>
      <p:cxnSp>
        <p:nvCxnSpPr>
          <p:cNvPr id="70" name="Google Shape;70;p14"/>
          <p:cNvCxnSpPr>
            <a:stCxn id="69" idx="6"/>
            <a:endCxn id="65" idx="3"/>
          </p:cNvCxnSpPr>
          <p:nvPr/>
        </p:nvCxnSpPr>
        <p:spPr>
          <a:xfrm>
            <a:off x="5784475" y="1654000"/>
            <a:ext cx="3359400" cy="1656600"/>
          </a:xfrm>
          <a:prstGeom prst="straightConnector1">
            <a:avLst/>
          </a:prstGeom>
          <a:noFill/>
          <a:ln cap="flat" cmpd="sng" w="38100">
            <a:solidFill>
              <a:srgbClr val="5CB676"/>
            </a:solidFill>
            <a:prstDash val="solid"/>
            <a:round/>
            <a:headEnd len="med" w="med" type="none"/>
            <a:tailEnd len="med" w="med" type="none"/>
          </a:ln>
        </p:spPr>
      </p:cxnSp>
      <p:sp>
        <p:nvSpPr>
          <p:cNvPr id="69" name="Google Shape;69;p14"/>
          <p:cNvSpPr/>
          <p:nvPr/>
        </p:nvSpPr>
        <p:spPr>
          <a:xfrm>
            <a:off x="5502175" y="1516750"/>
            <a:ext cx="282300" cy="274500"/>
          </a:xfrm>
          <a:prstGeom prst="ellipse">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p:nvPr/>
        </p:nvSpPr>
        <p:spPr>
          <a:xfrm>
            <a:off x="236075" y="2937374"/>
            <a:ext cx="8963575" cy="1218925"/>
          </a:xfrm>
          <a:custGeom>
            <a:rect b="b" l="l" r="r" t="t"/>
            <a:pathLst>
              <a:path extrusionOk="0" h="48757" w="358543">
                <a:moveTo>
                  <a:pt x="0" y="48757"/>
                </a:moveTo>
                <a:cubicBezTo>
                  <a:pt x="5304" y="42570"/>
                  <a:pt x="8640" y="34933"/>
                  <a:pt x="13163" y="28154"/>
                </a:cubicBezTo>
                <a:cubicBezTo>
                  <a:pt x="16905" y="22546"/>
                  <a:pt x="25164" y="21938"/>
                  <a:pt x="31476" y="19570"/>
                </a:cubicBezTo>
                <a:cubicBezTo>
                  <a:pt x="37223" y="17414"/>
                  <a:pt x="40936" y="10887"/>
                  <a:pt x="46928" y="9554"/>
                </a:cubicBezTo>
                <a:cubicBezTo>
                  <a:pt x="51402" y="8559"/>
                  <a:pt x="55856" y="11662"/>
                  <a:pt x="60377" y="12416"/>
                </a:cubicBezTo>
                <a:cubicBezTo>
                  <a:pt x="69527" y="13941"/>
                  <a:pt x="79134" y="16668"/>
                  <a:pt x="88133" y="14419"/>
                </a:cubicBezTo>
                <a:cubicBezTo>
                  <a:pt x="94732" y="12770"/>
                  <a:pt x="101708" y="10942"/>
                  <a:pt x="107019" y="6693"/>
                </a:cubicBezTo>
                <a:cubicBezTo>
                  <a:pt x="108822" y="5251"/>
                  <a:pt x="109246" y="2288"/>
                  <a:pt x="111311" y="1256"/>
                </a:cubicBezTo>
                <a:cubicBezTo>
                  <a:pt x="116522" y="-1348"/>
                  <a:pt x="123054" y="971"/>
                  <a:pt x="128766" y="2115"/>
                </a:cubicBezTo>
                <a:cubicBezTo>
                  <a:pt x="133830" y="3129"/>
                  <a:pt x="139074" y="503"/>
                  <a:pt x="144218" y="970"/>
                </a:cubicBezTo>
                <a:cubicBezTo>
                  <a:pt x="155157" y="1964"/>
                  <a:pt x="164728" y="8930"/>
                  <a:pt x="174550" y="13847"/>
                </a:cubicBezTo>
                <a:cubicBezTo>
                  <a:pt x="178064" y="15606"/>
                  <a:pt x="182383" y="14504"/>
                  <a:pt x="186282" y="14991"/>
                </a:cubicBezTo>
                <a:cubicBezTo>
                  <a:pt x="190184" y="15479"/>
                  <a:pt x="193276" y="18922"/>
                  <a:pt x="197155" y="19570"/>
                </a:cubicBezTo>
                <a:cubicBezTo>
                  <a:pt x="204087" y="20729"/>
                  <a:pt x="211376" y="14487"/>
                  <a:pt x="218044" y="16708"/>
                </a:cubicBezTo>
                <a:cubicBezTo>
                  <a:pt x="222861" y="18313"/>
                  <a:pt x="226951" y="21592"/>
                  <a:pt x="231493" y="23862"/>
                </a:cubicBezTo>
                <a:cubicBezTo>
                  <a:pt x="234104" y="25167"/>
                  <a:pt x="237575" y="24078"/>
                  <a:pt x="240078" y="25579"/>
                </a:cubicBezTo>
                <a:cubicBezTo>
                  <a:pt x="245383" y="28760"/>
                  <a:pt x="250551" y="33003"/>
                  <a:pt x="256674" y="33877"/>
                </a:cubicBezTo>
                <a:cubicBezTo>
                  <a:pt x="272066" y="36075"/>
                  <a:pt x="287924" y="35789"/>
                  <a:pt x="303316" y="33591"/>
                </a:cubicBezTo>
                <a:cubicBezTo>
                  <a:pt x="314743" y="31959"/>
                  <a:pt x="326444" y="35208"/>
                  <a:pt x="337940" y="34163"/>
                </a:cubicBezTo>
                <a:cubicBezTo>
                  <a:pt x="344845" y="33535"/>
                  <a:pt x="351609" y="31302"/>
                  <a:pt x="358543" y="31302"/>
                </a:cubicBezTo>
              </a:path>
            </a:pathLst>
          </a:custGeom>
          <a:noFill/>
          <a:ln cap="flat" cmpd="sng" w="38100">
            <a:solidFill>
              <a:schemeClr val="accent1"/>
            </a:solidFill>
            <a:prstDash val="solid"/>
            <a:round/>
            <a:headEnd len="med" w="med" type="none"/>
            <a:tailEnd len="med" w="med" type="none"/>
          </a:ln>
        </p:spPr>
      </p:sp>
      <p:sp>
        <p:nvSpPr>
          <p:cNvPr id="72" name="Google Shape;72;p14"/>
          <p:cNvSpPr txBox="1"/>
          <p:nvPr/>
        </p:nvSpPr>
        <p:spPr>
          <a:xfrm>
            <a:off x="74175" y="3344800"/>
            <a:ext cx="13848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highlight>
                  <a:srgbClr val="D9EAD3"/>
                </a:highlight>
              </a:rPr>
              <a:t>Winters, CA</a:t>
            </a:r>
            <a:endParaRPr b="1" sz="1600">
              <a:solidFill>
                <a:srgbClr val="000000"/>
              </a:solidFill>
              <a:highlight>
                <a:srgbClr val="D9EAD3"/>
              </a:highlight>
            </a:endParaRPr>
          </a:p>
        </p:txBody>
      </p:sp>
      <p:sp>
        <p:nvSpPr>
          <p:cNvPr id="73" name="Google Shape;73;p14"/>
          <p:cNvSpPr txBox="1"/>
          <p:nvPr/>
        </p:nvSpPr>
        <p:spPr>
          <a:xfrm>
            <a:off x="722525" y="3605450"/>
            <a:ext cx="412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74" name="Google Shape;74;p14"/>
          <p:cNvSpPr txBox="1"/>
          <p:nvPr/>
        </p:nvSpPr>
        <p:spPr>
          <a:xfrm>
            <a:off x="6686350" y="3392188"/>
            <a:ext cx="13848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highlight>
                  <a:srgbClr val="D9EAD3"/>
                </a:highlight>
              </a:rPr>
              <a:t>Putah Creek</a:t>
            </a:r>
            <a:endParaRPr b="1" sz="1600">
              <a:solidFill>
                <a:srgbClr val="000000"/>
              </a:solidFill>
              <a:highlight>
                <a:srgbClr val="D9EAD3"/>
              </a:highlight>
            </a:endParaRPr>
          </a:p>
        </p:txBody>
      </p:sp>
      <p:pic>
        <p:nvPicPr>
          <p:cNvPr id="75" name="Google Shape;75;p14"/>
          <p:cNvPicPr preferRelativeResize="0"/>
          <p:nvPr/>
        </p:nvPicPr>
        <p:blipFill rotWithShape="1">
          <a:blip r:embed="rId8">
            <a:alphaModFix/>
          </a:blip>
          <a:srcRect b="13745" l="49170" r="11031" t="4044"/>
          <a:stretch/>
        </p:blipFill>
        <p:spPr>
          <a:xfrm>
            <a:off x="-125" y="125700"/>
            <a:ext cx="1454423" cy="2342200"/>
          </a:xfrm>
          <a:prstGeom prst="rect">
            <a:avLst/>
          </a:prstGeom>
          <a:noFill/>
          <a:ln>
            <a:noFill/>
          </a:ln>
        </p:spPr>
      </p:pic>
      <p:pic>
        <p:nvPicPr>
          <p:cNvPr id="76" name="Google Shape;76;p14"/>
          <p:cNvPicPr preferRelativeResize="0"/>
          <p:nvPr/>
        </p:nvPicPr>
        <p:blipFill rotWithShape="1">
          <a:blip r:embed="rId7">
            <a:alphaModFix/>
          </a:blip>
          <a:srcRect b="1154" l="1786" r="86816" t="94722"/>
          <a:stretch/>
        </p:blipFill>
        <p:spPr>
          <a:xfrm>
            <a:off x="155237" y="2158588"/>
            <a:ext cx="1222676" cy="309301"/>
          </a:xfrm>
          <a:prstGeom prst="rect">
            <a:avLst/>
          </a:prstGeom>
          <a:noFill/>
          <a:ln>
            <a:noFill/>
          </a:ln>
        </p:spPr>
      </p:pic>
      <p:pic>
        <p:nvPicPr>
          <p:cNvPr id="77" name="Google Shape;77;p14"/>
          <p:cNvPicPr preferRelativeResize="0"/>
          <p:nvPr/>
        </p:nvPicPr>
        <p:blipFill rotWithShape="1">
          <a:blip r:embed="rId7">
            <a:alphaModFix/>
          </a:blip>
          <a:srcRect b="15228" l="1420" r="86229" t="80648"/>
          <a:stretch/>
        </p:blipFill>
        <p:spPr>
          <a:xfrm>
            <a:off x="1454300" y="2158600"/>
            <a:ext cx="1325051" cy="309301"/>
          </a:xfrm>
          <a:prstGeom prst="rect">
            <a:avLst/>
          </a:prstGeom>
          <a:noFill/>
          <a:ln>
            <a:noFill/>
          </a:ln>
        </p:spPr>
      </p:pic>
      <p:pic>
        <p:nvPicPr>
          <p:cNvPr id="78" name="Google Shape;78;p14"/>
          <p:cNvPicPr preferRelativeResize="0"/>
          <p:nvPr/>
        </p:nvPicPr>
        <p:blipFill rotWithShape="1">
          <a:blip r:embed="rId7">
            <a:alphaModFix/>
          </a:blip>
          <a:srcRect b="5882" l="1137" r="87466" t="89592"/>
          <a:stretch/>
        </p:blipFill>
        <p:spPr>
          <a:xfrm>
            <a:off x="2969850" y="2128500"/>
            <a:ext cx="1222702" cy="339398"/>
          </a:xfrm>
          <a:prstGeom prst="rect">
            <a:avLst/>
          </a:prstGeom>
          <a:noFill/>
          <a:ln>
            <a:noFill/>
          </a:ln>
        </p:spPr>
      </p:pic>
      <p:sp>
        <p:nvSpPr>
          <p:cNvPr id="79" name="Google Shape;79;p14"/>
          <p:cNvSpPr txBox="1"/>
          <p:nvPr/>
        </p:nvSpPr>
        <p:spPr>
          <a:xfrm>
            <a:off x="3330700" y="2128500"/>
            <a:ext cx="861900" cy="33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rPr>
              <a:t>Forest</a:t>
            </a:r>
            <a:endParaRPr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